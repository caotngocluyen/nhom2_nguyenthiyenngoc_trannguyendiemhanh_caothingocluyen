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548640"/>
            <a:ext cx="1920240" cy="1920240"/>
          </a:xfrm>
          <a:prstGeom prst="ellipse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1920240"/>
            <a:ext cx="1097280" cy="1097280"/>
          </a:xfrm>
          <a:prstGeom prst="ellipse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2834640"/>
            <a:ext cx="685800" cy="685800"/>
          </a:xfrm>
          <a:prstGeom prst="ellipse">
            <a:avLst/>
          </a:prstGeom>
          <a:solidFill>
            <a:srgbClr val="F1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4023360"/>
            <a:ext cx="1463040" cy="1463040"/>
          </a:xfrm>
          <a:prstGeom prst="ellipse">
            <a:avLst/>
          </a:prstGeom>
          <a:solidFill>
            <a:srgbClr val="223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704088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95DBD8"/>
                </a:solidFill>
                <a:latin typeface="Aptos"/>
              </a:defRPr>
            </a:pPr>
            <a:r>
              <a:rPr sz="2000"/>
              <a:t>BÁO CÁO MÔN KHAI PHÁ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7863840" cy="17148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800"/>
              <a:t>HỆ THỐNG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800"/>
              <a:t>KHUYẾN NGHỊ PHIM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713232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CADAEE"/>
                </a:solidFill>
                <a:latin typeface="Aptos"/>
              </a:defRPr>
            </a:pPr>
            <a:r>
              <a:rPr sz="2800"/>
              <a:t>MOVIE RECOMMENDATION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1417"/>
            <a:ext cx="7040880" cy="20456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sz="2000"/>
              <a:t>Giảng viên hướng dẫn: Vũ Thị Hạnh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sz="2000"/>
              <a:t>Sinh viên:</a:t>
            </a:r>
            <a:r>
              <a:rPr lang="en-US" sz="2000"/>
              <a:t>	</a:t>
            </a:r>
            <a:r>
              <a:rPr sz="2000"/>
              <a:t>Nguyễn Thị Yến Ngọc </a:t>
            </a:r>
            <a:endParaRPr lang="en-US" sz="2000"/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sz="2000"/>
              <a:t> </a:t>
            </a:r>
            <a:r>
              <a:rPr lang="en-US" sz="2000"/>
              <a:t>			</a:t>
            </a:r>
            <a:r>
              <a:rPr sz="2000"/>
              <a:t>Trần Nguyễn Diễm Hạnh </a:t>
            </a:r>
            <a:endParaRPr lang="en-US" sz="2000"/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sz="2000"/>
              <a:t> </a:t>
            </a:r>
            <a:r>
              <a:rPr lang="en-US" sz="2000"/>
              <a:t>			</a:t>
            </a:r>
            <a:r>
              <a:rPr sz="2000"/>
              <a:t>Cao Thị Ngọc Luyến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rPr sz="2000"/>
              <a:t>Lớp: S26-65CNTT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5029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A5B7D1"/>
                </a:solidFill>
                <a:latin typeface="Aptos"/>
              </a:defRPr>
            </a:pPr>
            <a:r>
              <a:t>PHÂN HIỆU TRƯỜNG ĐẠI HỌC THỦY LỢI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FED15-B123-EEAE-0BF3-BBD97ACC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1. Mục tiêu và phạm vi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74519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1272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344"/>
                </a:solidFill>
                <a:latin typeface="Aptos"/>
              </a:defRPr>
            </a:pPr>
            <a:r>
              <a:rPr sz="2400"/>
              <a:t>Mục tiêu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3127248" cy="107106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Phân tích lịch sử đánh giá và thông tin phim để đề xuất phim phù hợp.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874519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272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344"/>
                </a:solidFill>
                <a:latin typeface="Aptos"/>
              </a:defRPr>
            </a:pPr>
            <a:r>
              <a:rPr sz="2400"/>
              <a:t>Dữ liệu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27248" cy="107106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MovieLens hơn 26 triệu lượt đánh giá, kết hợp metadata từ TMDB.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874519"/>
          </a:xfrm>
          <a:prstGeom prst="rect">
            <a:avLst/>
          </a:prstGeom>
          <a:solidFill>
            <a:srgbClr val="F1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272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344"/>
                </a:solidFill>
                <a:latin typeface="Aptos"/>
              </a:defRPr>
            </a:pPr>
            <a:r>
              <a:rPr sz="2400"/>
              <a:t>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11680"/>
            <a:ext cx="3127248" cy="107106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SVD, TF-IDF, Sentence-Transformers, Hybrid và Two-Stage LightGBM.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344"/>
                </a:solidFill>
                <a:latin typeface="Aptos"/>
              </a:defRPr>
            </a:pPr>
            <a:r>
              <a:t>Chỉ số đánh giá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058400" cy="118872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RMSE, MAE: đo sai số dự đoán điểm đánh giá.</a:t>
            </a:r>
          </a:p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Hit Rate@10, NDCG@10: đo chất lượng xếp hạng Top-10.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60E030-39A6-2140-B88E-80B6620E7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2. Dữ liệu và tiền xử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73152" cy="123444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4193"/>
            <a:ext cx="17556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344"/>
                </a:solidFill>
                <a:latin typeface="Aptos"/>
              </a:defRPr>
            </a:pPr>
            <a:r>
              <a:rPr sz="2400"/>
              <a:t>ratings.csv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2021669"/>
            <a:ext cx="1984247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Lịch sử đánh giá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417320"/>
            <a:ext cx="73152" cy="123444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8092" y="1374005"/>
            <a:ext cx="17556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344"/>
                </a:solidFill>
                <a:latin typeface="Aptos"/>
              </a:defRPr>
            </a:pPr>
            <a:r>
              <a:rPr sz="2000"/>
              <a:t>movies_metadata.csv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7228" y="2001232"/>
            <a:ext cx="200253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Tên, thể loại, mô tả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93792" y="1417320"/>
            <a:ext cx="73152" cy="1234440"/>
          </a:xfrm>
          <a:prstGeom prst="rect">
            <a:avLst/>
          </a:prstGeom>
          <a:solidFill>
            <a:srgbClr val="F1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798" y="1453467"/>
            <a:ext cx="202997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344"/>
                </a:solidFill>
                <a:latin typeface="Aptos"/>
              </a:defRPr>
            </a:pPr>
            <a:r>
              <a:rPr sz="2400"/>
              <a:t>keywords.csv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1524" y="2001232"/>
            <a:ext cx="1892809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Từ khóa chủ đề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3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07223" y="1417320"/>
            <a:ext cx="73152" cy="123444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0375" y="1464192"/>
            <a:ext cx="17556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344"/>
                </a:solidFill>
                <a:latin typeface="Aptos"/>
              </a:defRPr>
            </a:pPr>
            <a:r>
              <a:rPr sz="2400"/>
              <a:t>credits.csv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5" y="1936382"/>
            <a:ext cx="1868425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Diễn viên, đạo diễn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0655" y="1417320"/>
            <a:ext cx="2103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20655" y="1417320"/>
            <a:ext cx="73152" cy="123444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06583" y="1504604"/>
            <a:ext cx="17556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344"/>
                </a:solidFill>
                <a:latin typeface="Aptos"/>
              </a:defRPr>
            </a:pPr>
            <a:r>
              <a:rPr sz="2400"/>
              <a:t>links.csv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6583" y="1913501"/>
            <a:ext cx="17556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Liên kết mã phim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63240"/>
            <a:ext cx="10515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344"/>
                </a:solidFill>
                <a:latin typeface="Aptos"/>
              </a:defRPr>
            </a:pPr>
            <a:r>
              <a:t>Các bước chính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1188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3611880"/>
            <a:ext cx="73152" cy="9144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606879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01  Làm sạch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068805"/>
            <a:ext cx="4910328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Kiểm tra thiếu, trùng lặp, mã không hợp lệ.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61188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611880"/>
            <a:ext cx="73152" cy="91440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645575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02  Hợp nhất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94906"/>
            <a:ext cx="4910328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Liên kết MovieLens–TMDB qua links.csv.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75488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5800" y="4754880"/>
            <a:ext cx="73152" cy="9144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4631" y="4806021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03  Lọc K-Core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600" y="5256240"/>
            <a:ext cx="5559552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≥ 20 đánh giá/người dùng; ≥ 10 đánh giá/phim.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75488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4754880"/>
            <a:ext cx="73152" cy="91440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741213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04  Chia dữ liệu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8984" y="5181203"/>
            <a:ext cx="5413247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rPr sz="2000"/>
              <a:t>Train 79,74% • Validation 9,96% • Test 10,30%.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989320"/>
            <a:ext cx="1051560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344"/>
                </a:solidFill>
                <a:latin typeface="Aptos"/>
              </a:defRPr>
            </a:pPr>
            <a:r>
              <a:rPr sz="2000"/>
              <a:t>Sau K-Core: 24.772.320 lượt đánh giá • 166.379 người dùng • 21.158 phim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2420B49-F641-1127-32BC-4F067F6C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3. Các mô hình được triển khai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641" y="1419858"/>
            <a:ext cx="3127248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lang="en-US" sz="2400" b="1">
                <a:solidFill>
                  <a:srgbClr val="142344"/>
                </a:solidFill>
                <a:latin typeface="Aptos"/>
              </a:rPr>
              <a:t>Collaborative Filtering sử dụng SVD </a:t>
            </a: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73793" y="2176510"/>
            <a:ext cx="31272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Học sở thích tiềm ẩn từ lịch sử 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73152" cy="160020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2564" y="1445609"/>
            <a:ext cx="346557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lang="en-US" sz="2400" b="1">
                <a:solidFill>
                  <a:srgbClr val="142344"/>
                </a:solidFill>
                <a:latin typeface="Aptos"/>
              </a:rPr>
              <a:t>Content-Based Filtering sử dụng TF-IDF</a:t>
            </a:r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654296" y="2240174"/>
            <a:ext cx="31272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So sánh từ khóa, thể loại và mô tả phim.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417320"/>
            <a:ext cx="73152" cy="1600200"/>
          </a:xfrm>
          <a:prstGeom prst="rect">
            <a:avLst/>
          </a:prstGeom>
          <a:solidFill>
            <a:srgbClr val="F1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331670"/>
            <a:ext cx="3474720" cy="1255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lang="en-US" sz="2400" b="1">
                <a:solidFill>
                  <a:srgbClr val="142344"/>
                </a:solidFill>
                <a:latin typeface="Aptos"/>
              </a:rPr>
              <a:t>Deep Semantic Embeddings sử dụng Sentence-Transformers</a:t>
            </a:r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78952" y="2381754"/>
            <a:ext cx="31272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Biểu diễn ý nghĩa ngữ nghĩa của phim.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474720"/>
            <a:ext cx="73152" cy="16002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641" y="3534156"/>
            <a:ext cx="312724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Hybrid Fixed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415" y="4099350"/>
            <a:ext cx="31272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Kết hợp SVD và ngữ nghĩa với α = 0,7.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747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474720"/>
            <a:ext cx="73152" cy="160020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569700"/>
            <a:ext cx="3296412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Hybrid Adaptive Alpha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069080"/>
            <a:ext cx="31272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Điều chỉnh α theo số lượt đánh giá.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47472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3474720"/>
            <a:ext cx="73152" cy="1600200"/>
          </a:xfrm>
          <a:prstGeom prst="rect">
            <a:avLst/>
          </a:prstGeom>
          <a:solidFill>
            <a:srgbClr val="F1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8952" y="3564287"/>
            <a:ext cx="3346704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Two-Stage + LightGBM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069080"/>
            <a:ext cx="3127248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2000"/>
              <a:t>Tạo ứng viên rồi xếp hạng lại.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403889"/>
            <a:ext cx="1033272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344"/>
                </a:solidFill>
                <a:latin typeface="Aptos"/>
              </a:defRPr>
            </a:pPr>
            <a:r>
              <a:rPr sz="2000"/>
              <a:t>Mục tiêu cuối: tăng độ phù hợp và chất lượng sắp xếp danh sách phim đề xuất.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19555DE-1F3A-E6EF-2A7C-2027CBA4C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4. Model 1 – Collaborative Filtering (SVD)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669280" cy="338328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Tạo ma trận người dùng – phim từ các rating.</a:t>
            </a:r>
          </a:p>
          <a:p>
            <a:pPr>
              <a:spcAft>
                <a:spcPts val="12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Phân rã ma trận để học vector đặc trưng tiềm ẩn của người dùng và phim.</a:t>
            </a:r>
          </a:p>
          <a:p>
            <a:pPr>
              <a:spcAft>
                <a:spcPts val="12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Dùng SGD cập nhật tham số để giảm sai số dự đoán.</a:t>
            </a:r>
          </a:p>
          <a:p>
            <a:pPr>
              <a:spcAft>
                <a:spcPts val="12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Dự đoán rating cho phim chưa đánh giá, sau đó xếp hạng.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269645"/>
            <a:ext cx="4572000" cy="1976475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93408" y="1343482"/>
            <a:ext cx="73152" cy="18288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21424" y="1269248"/>
            <a:ext cx="42245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344"/>
                </a:solidFill>
                <a:latin typeface="Aptos"/>
              </a:defRPr>
            </a:pPr>
            <a:r>
              <a:rPr sz="2400"/>
              <a:t>Cấu hình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4" y="1664940"/>
            <a:ext cx="4224528" cy="16481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1900"/>
              <a:t>n_factors = 50</a:t>
            </a:r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1900"/>
              <a:t>n_epochs = 15</a:t>
            </a:r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1900"/>
              <a:t>lr_all = 0,005 </a:t>
            </a:r>
            <a:endParaRPr lang="en-US" sz="1900"/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1900"/>
              <a:t> reg_all = 0,02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520440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520440"/>
            <a:ext cx="73152" cy="150876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22007" y="3587403"/>
            <a:ext cx="42245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344"/>
                </a:solidFill>
                <a:latin typeface="Aptos"/>
              </a:defRPr>
            </a:pPr>
            <a:r>
              <a:rPr sz="2400"/>
              <a:t>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4114800"/>
            <a:ext cx="4224528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040"/>
                </a:solidFill>
                <a:latin typeface="Aptos"/>
              </a:defRPr>
            </a:pPr>
            <a:r>
              <a:t>RMSE = 0,7940</a:t>
            </a:r>
          </a:p>
          <a:p>
            <a:pPr>
              <a:spcAft>
                <a:spcPts val="700"/>
              </a:spcAft>
              <a:defRPr sz="1700" b="0">
                <a:solidFill>
                  <a:srgbClr val="263040"/>
                </a:solidFill>
                <a:latin typeface="Aptos"/>
              </a:defRPr>
            </a:pPr>
            <a:r>
              <a:t>MAE = 0,5977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54395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1700"/>
              <a:t>Ưu điểm: học được sở thích tiềm ẩn.  Hạn chế: khó xử lý người dùng/phim mới và không trực tiếp hiểu nội dung.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84C998-B442-7115-C3BB-B9E00F3F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746410" cy="97872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5. M</a:t>
            </a:r>
            <a:r>
              <a:rPr lang="en-US"/>
              <a:t>odel 2&amp;3 -</a:t>
            </a:r>
            <a:r>
              <a:t> </a:t>
            </a:r>
            <a:r>
              <a:rPr lang="en-US" sz="2700" b="1">
                <a:solidFill>
                  <a:srgbClr val="142344"/>
                </a:solidFill>
                <a:latin typeface="Aptos"/>
              </a:rPr>
              <a:t>Content-Based Filtering &amp; 							Deep Semantic Embeddings (</a:t>
            </a:r>
            <a:r>
              <a:t>dựa trên nội dung</a:t>
            </a:r>
            <a:r>
              <a:rPr lang="en-US"/>
              <a:t>)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77631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344"/>
                </a:solidFill>
                <a:latin typeface="Aptos"/>
              </a:defRPr>
            </a:pPr>
            <a:r>
              <a:rPr sz="2400"/>
              <a:t>TF-IDF + 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3621"/>
            <a:ext cx="4974336" cy="13737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1700"/>
              <a:t>• Biến tên, thể loại, từ khóa, diễn viên và mô tả thành vector.</a:t>
            </a:r>
          </a:p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1700"/>
              <a:t>• So sánh mức độ trùng khớp từ vựng.</a:t>
            </a:r>
          </a:p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1700"/>
              <a:t>• Toy Story 2 tương đồng 0,376 với Toy 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94615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344"/>
                </a:solidFill>
                <a:latin typeface="Aptos"/>
              </a:defRPr>
            </a:pPr>
            <a:r>
              <a:rPr sz="2400"/>
              <a:t>Sentence-Transformers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03621"/>
            <a:ext cx="4910328" cy="13737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1700"/>
              <a:t>• Dùng all-MiniLM-L6-v2 tạo embedding 384 chiều.</a:t>
            </a:r>
          </a:p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1700"/>
              <a:t>• Nhận diện gần nhau về ý nghĩa, dù từ ngữ khác nhau.</a:t>
            </a:r>
          </a:p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rPr sz="1700"/>
              <a:t>• Toy Story 3 đạt 0,8484 với Toy 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104241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344"/>
                </a:solidFill>
                <a:latin typeface="Aptos"/>
              </a:defRPr>
            </a:pPr>
            <a:r>
              <a:t>So sánh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73152" cy="114300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2584" y="4325691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92040"/>
            <a:ext cx="491032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rPr lang="en-US" sz="1700"/>
              <a:t>P</a:t>
            </a:r>
            <a:r>
              <a:rPr sz="1700"/>
              <a:t>hụ thuộc từ khóa và chất lượng metadata.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73152" cy="114300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8984" y="4406104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rPr sz="2400"/>
              <a:t>Embedding ngữ nghĩa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892040"/>
            <a:ext cx="4910328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rPr sz="1700"/>
              <a:t>Hiểu ý nghĩa</a:t>
            </a:r>
            <a:r>
              <a:rPr lang="en-US" sz="1700"/>
              <a:t> từ khoá</a:t>
            </a:r>
            <a:r>
              <a:rPr sz="1700"/>
              <a:t> tốt hơn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04991C8-554D-1523-5A94-32ED5D535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6. M</a:t>
            </a:r>
            <a:r>
              <a:rPr lang="en-US"/>
              <a:t>odel 4 -</a:t>
            </a:r>
            <a:r>
              <a:t>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74519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497115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344"/>
                </a:solidFill>
                <a:latin typeface="Aptos"/>
              </a:defRPr>
            </a:pPr>
            <a:r>
              <a:rPr sz="2400"/>
              <a:t>Hybrid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910328" cy="12505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2000"/>
              <a:t>α = 0,7</a:t>
            </a:r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2000"/>
              <a:t>70% điểm SVD + 30% điểm Semantic</a:t>
            </a:r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2000"/>
              <a:t>Trọng số giống nhau cho mọi người dùng.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74519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497115"/>
            <a:ext cx="4910328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344"/>
                </a:solidFill>
                <a:latin typeface="Aptos"/>
              </a:defRPr>
            </a:pPr>
            <a:r>
              <a:rPr sz="2400"/>
              <a:t>Hybrid Adaptive Alpha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4910328" cy="12505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2000"/>
              <a:t>Trọng số thay đổi theo số lượt đánh giá.</a:t>
            </a:r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2000"/>
              <a:t>Ít tương tác: ưu tiên nội dung ngữ nghĩa.</a:t>
            </a:r>
          </a:p>
          <a:p>
            <a:pPr>
              <a:spcAft>
                <a:spcPts val="700"/>
              </a:spcAft>
              <a:defRPr sz="1500" b="0">
                <a:solidFill>
                  <a:srgbClr val="263040"/>
                </a:solidFill>
                <a:latin typeface="Aptos"/>
              </a:defRPr>
            </a:pPr>
            <a:r>
              <a:rPr sz="2000"/>
              <a:t>Nhiều tương tác: tăng trọng số SVD.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854B061-EDDE-E7DB-6EA4-EC728CCD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7. </a:t>
            </a:r>
            <a:r>
              <a:rPr lang="en-US"/>
              <a:t>Model 5 - </a:t>
            </a:r>
            <a:r>
              <a:t>Two-Stage Recommendation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" y="1554480"/>
            <a:ext cx="27614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t>Giai đoạn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841872"/>
            <a:ext cx="2761488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Candidate Generation</a:t>
            </a:r>
          </a:p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• Popularity: Top 80</a:t>
            </a:r>
          </a:p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• Semantic: Top 80</a:t>
            </a:r>
          </a:p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• Bổ sung ứng viên từ SVD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39" y="2011680"/>
            <a:ext cx="731520" cy="457200"/>
          </a:xfrm>
          <a:prstGeom prst="rightArrow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92040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92040" y="1554480"/>
            <a:ext cx="73152" cy="141732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7" y="1719072"/>
            <a:ext cx="27614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t>Giai đoạn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2148840"/>
            <a:ext cx="2761488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LightGBM LambdaRank</a:t>
            </a:r>
          </a:p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Xếp hạng ứng viên bằng 11 đặc trưng.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83879" y="2011680"/>
            <a:ext cx="731520" cy="457200"/>
          </a:xfrm>
          <a:prstGeom prst="rightArrow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52560" y="155448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52560" y="1554480"/>
            <a:ext cx="73152" cy="1417320"/>
          </a:xfrm>
          <a:prstGeom prst="rect">
            <a:avLst/>
          </a:prstGeom>
          <a:solidFill>
            <a:srgbClr val="F1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1719072"/>
            <a:ext cx="20756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344"/>
                </a:solidFill>
                <a:latin typeface="Aptos"/>
              </a:defRPr>
            </a:pPr>
            <a:r>
              <a:t>Đầu 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148840"/>
            <a:ext cx="2075688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40"/>
                </a:solidFill>
                <a:latin typeface="Aptos"/>
              </a:defRPr>
            </a:pPr>
            <a:r>
              <a:t>Danh sách Top phim phù hợp.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5760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657600"/>
            <a:ext cx="73152" cy="1417320"/>
          </a:xfrm>
          <a:prstGeom prst="rect">
            <a:avLst/>
          </a:prstGeom>
          <a:solidFill>
            <a:srgbClr val="2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3729702"/>
            <a:ext cx="48188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344"/>
                </a:solidFill>
                <a:latin typeface="Aptos"/>
              </a:defRPr>
            </a:pPr>
            <a:r>
              <a:t>Đặc trưng quan trọng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069650"/>
            <a:ext cx="4818888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movie_log_count (23,20%)</a:t>
            </a:r>
          </a:p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genre_match_score (20,60%)</a:t>
            </a:r>
          </a:p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diff_svd_movie (9,73%)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73152" cy="1417320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822191"/>
            <a:ext cx="481888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344"/>
                </a:solidFill>
                <a:latin typeface="Aptos"/>
              </a:defRPr>
            </a:pPr>
            <a:r>
              <a:t>Đa dạng hóa MMR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251960"/>
            <a:ext cx="4818888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Cân bằng độ phù hợp (λ = 0,7) và tính mới mẻ (0,3), giảm phim quá giống nhau trong danh sách.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1083613-5932-D059-4C8E-AB1A71DE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344"/>
                </a:solidFill>
                <a:latin typeface="Aptos"/>
              </a:defRPr>
            </a:pPr>
            <a:r>
              <a:t>8. Kết quả thực nghiệm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6527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142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Hit Rate@10</a:t>
                      </a:r>
                    </a:p>
                  </a:txBody>
                  <a:tcPr>
                    <a:solidFill>
                      <a:srgbClr val="1423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NDCG@10</a:t>
                      </a:r>
                    </a:p>
                  </a:txBody>
                  <a:tcPr>
                    <a:solidFill>
                      <a:srgbClr val="142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Content TF-IDF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18,33%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0,0871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Semantic (Sentence-BERT)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14,67%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0,0591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SVD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39,67%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0,2328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Hybrid Fixed (α = 0,7)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38,67%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0,2239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Hybrid Adaptive Alpha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38,67%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0,2436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Two-Stage LightGBM</a:t>
                      </a:r>
                    </a:p>
                  </a:txBody>
                  <a:tcPr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83,00%</a:t>
                      </a:r>
                    </a:p>
                  </a:txBody>
                  <a:tcPr>
                    <a:solidFill>
                      <a:srgbClr val="E2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63040"/>
                          </a:solidFill>
                          <a:latin typeface="Aptos"/>
                        </a:defRPr>
                      </a:pPr>
                      <a:r>
                        <a:t>0,5649</a:t>
                      </a:r>
                    </a:p>
                  </a:txBody>
                  <a:tcPr>
                    <a:solidFill>
                      <a:srgbClr val="E2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715000"/>
            <a:ext cx="102412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89A97"/>
                </a:solidFill>
                <a:latin typeface="Aptos"/>
              </a:defRPr>
            </a:pPr>
            <a:r>
              <a:t>Two-Stage LightGBM tốt nhất: Hit Rate@10 = 83,00%; NDCG@10 = 0,5649.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44CB1E-B5FC-2ED9-4291-D1104D46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E39-E63A-C37C-75A4-81E14308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811245-E65F-D249-6B88-C78843018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02" y="1530027"/>
            <a:ext cx="4600294" cy="221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B1D674-EE7B-7412-F9BE-5C9D19E2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964" y="1530027"/>
            <a:ext cx="7238036" cy="2339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D65BEB-32E5-1F09-9659-A8EE284BD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65608"/>
            <a:ext cx="5150734" cy="167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C4FE04-1DBB-01FF-D409-6CF15DD35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734" y="3869180"/>
            <a:ext cx="7074193" cy="221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F6EEBA1-D341-2745-FC8A-9AD2FDB948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12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485E-29CC-C4E3-1EFF-8E25A3D0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6606DD-D562-FE31-6A48-A7470E7E8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300"/>
            <a:ext cx="8548347" cy="267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DE0A3B-662B-7335-13FE-E7B7870FE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144479"/>
            <a:ext cx="8689539" cy="2770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B7BB57-DC35-21A1-E2CC-64A8E3522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8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9. 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25880"/>
            <a:ext cx="868680" cy="54864"/>
          </a:xfrm>
          <a:prstGeom prst="rect">
            <a:avLst/>
          </a:prstGeom>
          <a:solidFill>
            <a:srgbClr val="189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241280" cy="1743554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Đã xây dựng quy trình tiền xử lý dữ liệu MovieLens kết hợp TMDB.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Triển khai và so sánh 6 mô hình khuyến nghị phim.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Two-Stage LightGBM đạt kết quả xếp hạng cao nhất trong thực nghiệm.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Hạn chế còn lại: dữ liệu thưa, phụ thuộc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1033272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95DBD8"/>
                </a:solidFill>
                <a:latin typeface="Aptos"/>
              </a:defRPr>
            </a:pPr>
            <a:r>
              <a:rPr sz="2800"/>
              <a:t>CẢM ƠN CÔ VÀ CÁC BẠN ĐÃ LẮNG NGHE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332720" cy="40934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CADAEE"/>
                </a:solidFill>
                <a:latin typeface="Aptos"/>
              </a:defRPr>
            </a:pPr>
            <a:r>
              <a:rPr lang="en-US" sz="1700"/>
              <a:t>Nguyễn Thị Yến Ngọc • Trần Nguyễn Diễm Hạnh • Cao Thị Ngọc Luyến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4BBBAB-A1A7-23BE-D5A1-5721B2B23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0"/>
            <a:ext cx="1299633" cy="10786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967</Words>
  <Application>Microsoft Office PowerPoint</Application>
  <PresentationFormat>Widescreen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2026-10-28T15:56:18Z</dcterms:modified>
  <cp:category/>
</cp:coreProperties>
</file>